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对齐</a:t>
            </a:r>
            <a:r>
              <a:rPr lang="zh-CN" altLang="en-US"/>
              <a:t>会议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2026.2.5</a:t>
            </a:r>
            <a:endParaRPr lang="en-US" altLang="zh-CN"/>
          </a:p>
          <a:p>
            <a:r>
              <a:rPr lang="zh-CN" altLang="en-US"/>
              <a:t>陈庆安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9465" y="2012950"/>
            <a:ext cx="10413365" cy="2580005"/>
          </a:xfrm>
        </p:spPr>
        <p:txBody>
          <a:bodyPr>
            <a:normAutofit fontScale="90000"/>
          </a:bodyPr>
          <a:p>
            <a:r>
              <a:rPr lang="en-US" altLang="zh-CN" sz="3110"/>
              <a:t>0. </a:t>
            </a:r>
            <a:r>
              <a:rPr lang="zh-CN" altLang="en-US" sz="3110"/>
              <a:t>一句话说明：我们要做什么</a:t>
            </a:r>
            <a:br>
              <a:rPr lang="zh-CN" altLang="en-US" sz="3110"/>
            </a:br>
            <a:br>
              <a:rPr lang="zh-CN" altLang="en-US" sz="3110"/>
            </a:br>
            <a:r>
              <a:rPr lang="zh-CN" altLang="en-US" sz="3110"/>
              <a:t>我们要做一个</a:t>
            </a:r>
            <a:r>
              <a:rPr lang="en-US" altLang="zh-CN" sz="3110"/>
              <a:t> SNN SoC</a:t>
            </a:r>
            <a:r>
              <a:rPr lang="zh-CN" altLang="en-US" sz="3110"/>
              <a:t>（基于脉冲神经网络算法的系统芯片），其中</a:t>
            </a:r>
            <a:r>
              <a:rPr lang="en-US" altLang="zh-CN" sz="3110"/>
              <a:t> </a:t>
            </a:r>
            <a:r>
              <a:rPr lang="zh-CN" altLang="en-US" sz="3110"/>
              <a:t>模拟</a:t>
            </a:r>
            <a:r>
              <a:rPr lang="en-US" altLang="zh-CN" sz="3110"/>
              <a:t> CIM Macro</a:t>
            </a:r>
            <a:r>
              <a:rPr lang="zh-CN" altLang="en-US" sz="3110"/>
              <a:t>（采用氧化物</a:t>
            </a:r>
            <a:r>
              <a:rPr lang="en-US" altLang="zh-CN" sz="3110"/>
              <a:t>RRAM </a:t>
            </a:r>
            <a:r>
              <a:rPr lang="zh-CN" altLang="en-US" sz="3110"/>
              <a:t>阵列</a:t>
            </a:r>
            <a:r>
              <a:rPr lang="en-US" altLang="zh-CN" sz="3110"/>
              <a:t> </a:t>
            </a:r>
            <a:r>
              <a:rPr lang="zh-CN" altLang="en-US" sz="3110"/>
              <a:t>）</a:t>
            </a:r>
            <a:r>
              <a:rPr lang="en-US" altLang="zh-CN" sz="3110"/>
              <a:t> </a:t>
            </a:r>
            <a:r>
              <a:rPr lang="zh-CN" altLang="en-US" sz="3110"/>
              <a:t>作为</a:t>
            </a:r>
            <a:r>
              <a:rPr lang="en-US" altLang="zh-CN" sz="3110"/>
              <a:t> SoC </a:t>
            </a:r>
            <a:r>
              <a:rPr lang="zh-CN" altLang="en-US" sz="3110"/>
              <a:t>里的一个加速</a:t>
            </a:r>
            <a:r>
              <a:rPr lang="en-US" altLang="zh-CN" sz="3110"/>
              <a:t> IP</a:t>
            </a:r>
            <a:r>
              <a:rPr lang="zh-CN" altLang="en-US" sz="3110"/>
              <a:t>，负责神经网络里的乘加运算。</a:t>
            </a:r>
            <a:br>
              <a:rPr lang="zh-CN" altLang="en-US" sz="3110"/>
            </a:br>
            <a:r>
              <a:rPr lang="en-US" altLang="zh-CN" sz="3110"/>
              <a:t>  </a:t>
            </a:r>
            <a:br>
              <a:rPr lang="en-US" altLang="zh-CN" sz="3110"/>
            </a:br>
            <a:r>
              <a:rPr lang="zh-CN" altLang="en-US" sz="3110"/>
              <a:t>数字</a:t>
            </a:r>
            <a:r>
              <a:rPr lang="en-US" altLang="zh-CN" sz="3110"/>
              <a:t> SoC </a:t>
            </a:r>
            <a:r>
              <a:rPr lang="zh-CN" altLang="en-US" sz="3110"/>
              <a:t>负责</a:t>
            </a:r>
            <a:r>
              <a:rPr lang="en-US" altLang="zh-CN" sz="3110"/>
              <a:t> </a:t>
            </a:r>
            <a:r>
              <a:rPr lang="zh-CN" altLang="en-US" sz="3110"/>
              <a:t>数据搬运、时序控制、量化接口、神经元累加与阈值发放（</a:t>
            </a:r>
            <a:r>
              <a:rPr lang="en-US" altLang="zh-CN" sz="3110"/>
              <a:t>spike</a:t>
            </a:r>
            <a:r>
              <a:rPr lang="zh-CN" altLang="en-US" sz="3110"/>
              <a:t>），并与模拟宏进行片外</a:t>
            </a:r>
            <a:r>
              <a:rPr lang="en-US" altLang="zh-CN" sz="3110"/>
              <a:t>/</a:t>
            </a:r>
            <a:r>
              <a:rPr lang="zh-CN" altLang="en-US" sz="3110"/>
              <a:t>片上系统级协同验证。</a:t>
            </a:r>
            <a:endParaRPr lang="zh-CN" altLang="en-US" sz="311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221615" y="1597025"/>
            <a:ext cx="4959350" cy="3663950"/>
            <a:chOff x="6055" y="2833"/>
            <a:chExt cx="7810" cy="5770"/>
          </a:xfrm>
        </p:grpSpPr>
        <p:sp>
          <p:nvSpPr>
            <p:cNvPr id="7" name="矩形 6"/>
            <p:cNvSpPr/>
            <p:nvPr/>
          </p:nvSpPr>
          <p:spPr>
            <a:xfrm>
              <a:off x="6055" y="2833"/>
              <a:ext cx="7810" cy="577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r>
                <a:rPr lang="zh-CN" altLang="en-US"/>
                <a:t>数字电路</a:t>
              </a:r>
              <a:r>
                <a:rPr lang="en-US" altLang="zh-CN"/>
                <a:t>---</a:t>
              </a:r>
              <a:r>
                <a:rPr lang="zh-CN" altLang="en-US"/>
                <a:t>把</a:t>
              </a:r>
              <a:r>
                <a:rPr lang="en-US" altLang="zh-CN"/>
                <a:t>CIM MACRO</a:t>
              </a:r>
              <a:r>
                <a:rPr lang="zh-CN" altLang="en-US"/>
                <a:t>当</a:t>
              </a:r>
              <a:r>
                <a:rPr lang="en-US" altLang="zh-CN"/>
                <a:t>IP</a:t>
              </a:r>
              <a:endParaRPr lang="en-US" altLang="zh-CN"/>
            </a:p>
            <a:p>
              <a:pPr algn="ctr"/>
              <a:r>
                <a:rPr lang="zh-CN" altLang="en-US"/>
                <a:t>做成一个能够执行推理的完整加速器</a:t>
              </a:r>
              <a:r>
                <a:rPr lang="zh-CN" altLang="en-US"/>
                <a:t>系统</a:t>
              </a:r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7542" y="2993"/>
              <a:ext cx="5281" cy="3995"/>
              <a:chOff x="12631" y="5479"/>
              <a:chExt cx="5281" cy="3995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12631" y="5479"/>
                <a:ext cx="5281" cy="3995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  <a:p>
                <a:pPr algn="ctr"/>
                <a:r>
                  <a:rPr lang="zh-CN" altLang="en-US"/>
                  <a:t>模拟电路</a:t>
                </a:r>
                <a:r>
                  <a:rPr lang="en-US" altLang="zh-CN"/>
                  <a:t>---</a:t>
                </a:r>
                <a:r>
                  <a:rPr lang="zh-CN" altLang="en-US"/>
                  <a:t>存算一体</a:t>
                </a:r>
                <a:r>
                  <a:rPr lang="en-US" altLang="zh-CN"/>
                  <a:t>macro</a:t>
                </a:r>
                <a:endParaRPr lang="en-US" altLang="zh-CN"/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13878" y="5748"/>
                <a:ext cx="2603" cy="1833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/>
                  <a:t>器件阵列</a:t>
                </a:r>
                <a:endParaRPr lang="zh-CN" altLang="en-US"/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5558790" y="3446145"/>
            <a:ext cx="803846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外部输入</a:t>
            </a:r>
            <a:endParaRPr lang="zh-CN" altLang="en-US" sz="1400"/>
          </a:p>
          <a:p>
            <a:r>
              <a:rPr lang="en-US" altLang="zh-CN" sz="1400"/>
              <a:t>  Flash --SPI--&gt; CPU--</a:t>
            </a:r>
            <a:r>
              <a:rPr lang="zh-CN" altLang="en-US" sz="1400"/>
              <a:t>写</a:t>
            </a:r>
            <a:r>
              <a:rPr lang="en-US" altLang="zh-CN" sz="1400"/>
              <a:t>--&gt; data_sram</a:t>
            </a:r>
            <a:endParaRPr lang="en-US" altLang="zh-CN" sz="1400"/>
          </a:p>
          <a:p>
            <a:r>
              <a:rPr lang="en-US" altLang="zh-CN" sz="1400"/>
              <a:t>                     |  </a:t>
            </a:r>
            <a:r>
              <a:rPr lang="zh-CN" altLang="en-US" sz="1400"/>
              <a:t>配寄存器</a:t>
            </a:r>
            <a:r>
              <a:rPr lang="en-US" altLang="zh-CN" sz="1400"/>
              <a:t>/</a:t>
            </a:r>
            <a:r>
              <a:rPr lang="zh-CN" altLang="en-US" sz="1400"/>
              <a:t>启动</a:t>
            </a:r>
            <a:r>
              <a:rPr lang="en-US" altLang="zh-CN" sz="1400"/>
              <a:t>/</a:t>
            </a:r>
            <a:r>
              <a:rPr lang="zh-CN" altLang="en-US" sz="1400"/>
              <a:t>读结果</a:t>
            </a:r>
            <a:endParaRPr lang="zh-CN" altLang="en-US" sz="1400"/>
          </a:p>
          <a:p>
            <a:r>
              <a:rPr lang="en-US" altLang="zh-CN" sz="1400"/>
              <a:t>                     v</a:t>
            </a:r>
            <a:endParaRPr lang="en-US" altLang="zh-CN" sz="1400"/>
          </a:p>
          <a:p>
            <a:r>
              <a:rPr lang="en-US" altLang="zh-CN" sz="1400"/>
              <a:t>                 DMA </a:t>
            </a:r>
            <a:r>
              <a:rPr lang="zh-CN" altLang="en-US" sz="1400"/>
              <a:t>引擎</a:t>
            </a:r>
            <a:r>
              <a:rPr lang="en-US" altLang="zh-CN" sz="1400"/>
              <a:t>  ---&gt; input_fifo ---&gt; DAC/CIM/ADC </a:t>
            </a:r>
            <a:r>
              <a:rPr lang="zh-CN" altLang="en-US" sz="1400"/>
              <a:t>控制链</a:t>
            </a:r>
            <a:r>
              <a:rPr lang="en-US" altLang="zh-CN" sz="1400"/>
              <a:t> ---&gt; LIF ---&gt; output_fifo</a:t>
            </a:r>
            <a:endParaRPr lang="en-US" altLang="zh-CN" sz="1400"/>
          </a:p>
          <a:p>
            <a:r>
              <a:rPr lang="en-US" altLang="zh-CN" sz="1400"/>
              <a:t>                                                      </a:t>
            </a:r>
            <a:endParaRPr lang="en-US" altLang="zh-CN" sz="1400"/>
          </a:p>
          <a:p>
            <a:r>
              <a:rPr lang="zh-CN" altLang="en-US" sz="1400"/>
              <a:t>外部输出</a:t>
            </a:r>
            <a:endParaRPr lang="zh-CN" altLang="en-US" sz="1400"/>
          </a:p>
          <a:p>
            <a:r>
              <a:rPr lang="en-US" altLang="zh-CN" sz="1400"/>
              <a:t>  CPU --UART--&gt; PC</a:t>
            </a:r>
            <a:r>
              <a:rPr lang="zh-CN" altLang="en-US" sz="1400"/>
              <a:t>（打印日志</a:t>
            </a:r>
            <a:r>
              <a:rPr lang="en-US" altLang="zh-CN" sz="1400"/>
              <a:t>/</a:t>
            </a:r>
            <a:r>
              <a:rPr lang="zh-CN" altLang="en-US" sz="1400"/>
              <a:t>传输结果）</a:t>
            </a:r>
            <a:endParaRPr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5558790" y="1597025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</a:t>
            </a:r>
            <a:r>
              <a:rPr lang="zh-CN" altLang="en-US"/>
              <a:t>数据流（固定通道）：</a:t>
            </a:r>
            <a:r>
              <a:rPr lang="en-US" altLang="zh-CN"/>
              <a:t>data_sram </a:t>
            </a:r>
            <a:r>
              <a:rPr lang="en-US" altLang="en-US"/>
              <a:t>→</a:t>
            </a:r>
            <a:r>
              <a:rPr lang="en-US" altLang="zh-CN"/>
              <a:t> DMA </a:t>
            </a:r>
            <a:r>
              <a:rPr lang="en-US" altLang="en-US"/>
              <a:t>→</a:t>
            </a:r>
            <a:r>
              <a:rPr lang="en-US" altLang="zh-CN"/>
              <a:t> input_fifo </a:t>
            </a:r>
            <a:r>
              <a:rPr lang="en-US" altLang="en-US"/>
              <a:t>→</a:t>
            </a:r>
            <a:r>
              <a:rPr lang="en-US" altLang="zh-CN"/>
              <a:t> CIM </a:t>
            </a:r>
            <a:r>
              <a:rPr lang="en-US" altLang="en-US"/>
              <a:t>→lif_neurons</a:t>
            </a:r>
            <a:r>
              <a:rPr lang="en-US" altLang="zh-CN"/>
              <a:t> </a:t>
            </a:r>
            <a:r>
              <a:rPr lang="en-US" altLang="en-US">
                <a:sym typeface="+mn-ea"/>
              </a:rPr>
              <a:t>→</a:t>
            </a:r>
            <a:r>
              <a:rPr lang="en-US" altLang="zh-CN"/>
              <a:t>output_fifo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控制流（可编程）：</a:t>
            </a:r>
            <a:r>
              <a:rPr lang="en-US" altLang="zh-CN"/>
              <a:t>CPU </a:t>
            </a:r>
            <a:r>
              <a:rPr lang="zh-CN" altLang="en-US"/>
              <a:t>仅做</a:t>
            </a:r>
            <a:r>
              <a:rPr lang="en-US" altLang="zh-CN"/>
              <a:t> </a:t>
            </a:r>
            <a:r>
              <a:rPr lang="zh-CN" altLang="en-US"/>
              <a:t>配置</a:t>
            </a:r>
            <a:r>
              <a:rPr lang="en-US" altLang="zh-CN"/>
              <a:t>/</a:t>
            </a:r>
            <a:r>
              <a:rPr lang="zh-CN" altLang="en-US"/>
              <a:t>启动</a:t>
            </a:r>
            <a:r>
              <a:rPr lang="en-US" altLang="zh-CN"/>
              <a:t>/</a:t>
            </a:r>
            <a:r>
              <a:rPr lang="zh-CN" altLang="en-US"/>
              <a:t>读取结果；核心推理不靠</a:t>
            </a:r>
            <a:r>
              <a:rPr lang="en-US" altLang="zh-CN"/>
              <a:t> CPU </a:t>
            </a:r>
            <a:r>
              <a:rPr lang="zh-CN" altLang="en-US"/>
              <a:t>一拍一拍参与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12140" y="613410"/>
            <a:ext cx="1100836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/>
              <a:t>1. </a:t>
            </a:r>
            <a:r>
              <a:rPr lang="zh-CN" altLang="en-US" b="1"/>
              <a:t>三方分工与边界（器件</a:t>
            </a:r>
            <a:r>
              <a:rPr lang="en-US" altLang="zh-CN" b="1"/>
              <a:t>/</a:t>
            </a:r>
            <a:r>
              <a:rPr lang="zh-CN" altLang="en-US" b="1"/>
              <a:t>模拟</a:t>
            </a:r>
            <a:r>
              <a:rPr lang="en-US" altLang="zh-CN" b="1"/>
              <a:t>/</a:t>
            </a:r>
            <a:r>
              <a:rPr lang="zh-CN" altLang="en-US" b="1"/>
              <a:t>数字）</a:t>
            </a:r>
            <a:endParaRPr lang="zh-CN" altLang="en-US" b="1"/>
          </a:p>
          <a:p>
            <a:endParaRPr lang="en-US" altLang="zh-CN"/>
          </a:p>
          <a:p>
            <a:r>
              <a:rPr lang="en-US" altLang="zh-CN" b="1"/>
              <a:t>2.1 </a:t>
            </a:r>
            <a:r>
              <a:rPr lang="zh-CN" altLang="en-US" b="1"/>
              <a:t>器件侧</a:t>
            </a:r>
            <a:endParaRPr lang="zh-CN" altLang="en-US" b="1"/>
          </a:p>
          <a:p>
            <a:endParaRPr lang="zh-CN" altLang="en-US" b="1"/>
          </a:p>
          <a:p>
            <a:r>
              <a:rPr lang="en-US" altLang="zh-CN"/>
              <a:t>- RRAM </a:t>
            </a:r>
            <a:r>
              <a:rPr lang="zh-CN" altLang="en-US"/>
              <a:t>单元与阵列实现、后道工艺集成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提供</a:t>
            </a:r>
            <a:r>
              <a:rPr lang="en-US" altLang="zh-CN"/>
              <a:t> </a:t>
            </a:r>
            <a:r>
              <a:rPr lang="zh-CN" altLang="en-US"/>
              <a:t>可量化的数据：电导范围</a:t>
            </a:r>
            <a:r>
              <a:rPr lang="en-US" altLang="zh-CN"/>
              <a:t>/</a:t>
            </a:r>
            <a:r>
              <a:rPr lang="zh-CN" altLang="en-US"/>
              <a:t>级数</a:t>
            </a:r>
            <a:r>
              <a:rPr lang="en-US" altLang="zh-CN"/>
              <a:t>/</a:t>
            </a:r>
            <a:r>
              <a:rPr lang="zh-CN" altLang="en-US"/>
              <a:t>分布、噪声、漂移、写读条件等</a:t>
            </a:r>
            <a:endParaRPr lang="zh-CN" altLang="en-US"/>
          </a:p>
          <a:p>
            <a:endParaRPr lang="en-US" altLang="zh-CN"/>
          </a:p>
          <a:p>
            <a:r>
              <a:rPr lang="en-US" altLang="zh-CN" b="1"/>
              <a:t>2.2 </a:t>
            </a:r>
            <a:r>
              <a:rPr lang="zh-CN" altLang="en-US" b="1"/>
              <a:t>模拟侧</a:t>
            </a:r>
            <a:endParaRPr lang="zh-CN" altLang="en-US" b="1"/>
          </a:p>
          <a:p>
            <a:endParaRPr lang="zh-CN" altLang="en-US" b="1"/>
          </a:p>
          <a:p>
            <a:r>
              <a:rPr lang="en-US" altLang="zh-CN"/>
              <a:t>- DAC/ADC</a:t>
            </a:r>
            <a:r>
              <a:rPr lang="zh-CN" altLang="en-US"/>
              <a:t>、</a:t>
            </a:r>
            <a:r>
              <a:rPr lang="en-US" altLang="zh-CN"/>
              <a:t>MUX</a:t>
            </a:r>
            <a:r>
              <a:rPr lang="zh-CN" altLang="en-US"/>
              <a:t>、偏置</a:t>
            </a:r>
            <a:r>
              <a:rPr lang="en-US" altLang="zh-CN"/>
              <a:t>/</a:t>
            </a:r>
            <a:r>
              <a:rPr lang="zh-CN" altLang="en-US"/>
              <a:t>参考、读写脉冲整形等外围电路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给出</a:t>
            </a:r>
            <a:r>
              <a:rPr lang="en-US" altLang="zh-CN"/>
              <a:t> </a:t>
            </a:r>
            <a:r>
              <a:rPr lang="zh-CN" altLang="en-US"/>
              <a:t>接口电气</a:t>
            </a:r>
            <a:r>
              <a:rPr lang="en-US" altLang="zh-CN"/>
              <a:t>/</a:t>
            </a:r>
            <a:r>
              <a:rPr lang="zh-CN" altLang="en-US"/>
              <a:t>时序约束（例如：读出建立时间、</a:t>
            </a:r>
            <a:r>
              <a:rPr lang="en-US" altLang="zh-CN"/>
              <a:t>ADC </a:t>
            </a:r>
            <a:r>
              <a:rPr lang="zh-CN" altLang="en-US"/>
              <a:t>采样时间、输出范围等）</a:t>
            </a:r>
            <a:endParaRPr lang="zh-CN" altLang="en-US"/>
          </a:p>
          <a:p>
            <a:endParaRPr lang="en-US" altLang="zh-CN"/>
          </a:p>
          <a:p>
            <a:r>
              <a:rPr lang="en-US" altLang="zh-CN" b="1"/>
              <a:t>2.3 </a:t>
            </a:r>
            <a:r>
              <a:rPr lang="zh-CN" altLang="en-US" b="1"/>
              <a:t>数字侧</a:t>
            </a:r>
            <a:endParaRPr lang="zh-CN" altLang="en-US" b="1"/>
          </a:p>
          <a:p>
            <a:endParaRPr lang="zh-CN" altLang="en-US" b="1"/>
          </a:p>
          <a:p>
            <a:r>
              <a:rPr lang="en-US" altLang="zh-CN"/>
              <a:t>- SoC </a:t>
            </a:r>
            <a:r>
              <a:rPr lang="zh-CN" altLang="en-US"/>
              <a:t>控制与数据通路及完整架构的设计：</a:t>
            </a:r>
            <a:r>
              <a:rPr lang="en-US" altLang="zh-CN"/>
              <a:t>DMA / FIFO / </a:t>
            </a:r>
            <a:r>
              <a:rPr lang="zh-CN" altLang="en-US"/>
              <a:t>控制器</a:t>
            </a:r>
            <a:r>
              <a:rPr lang="en-US" altLang="zh-CN"/>
              <a:t> / LIF </a:t>
            </a:r>
            <a:r>
              <a:rPr lang="zh-CN" altLang="en-US"/>
              <a:t>神经元</a:t>
            </a:r>
            <a:r>
              <a:rPr lang="en-US" altLang="zh-CN"/>
              <a:t> / </a:t>
            </a:r>
            <a:r>
              <a:rPr lang="zh-CN" altLang="en-US"/>
              <a:t>寄存器映射</a:t>
            </a:r>
            <a:r>
              <a:rPr lang="en-US" altLang="zh-CN"/>
              <a:t> </a:t>
            </a:r>
            <a:r>
              <a:rPr lang="zh-CN" altLang="en-US"/>
              <a:t>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与模拟宏的数字接口协议定义与实现（握手、通道选择、数据采样时序）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- Python </a:t>
            </a:r>
            <a:r>
              <a:rPr lang="zh-CN" altLang="en-US"/>
              <a:t>端到端建模（含量化</a:t>
            </a:r>
            <a:r>
              <a:rPr lang="en-US" altLang="zh-CN"/>
              <a:t>/</a:t>
            </a:r>
            <a:r>
              <a:rPr lang="zh-CN" altLang="en-US"/>
              <a:t>噪声）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反推</a:t>
            </a:r>
            <a:r>
              <a:rPr lang="en-US" altLang="zh-CN"/>
              <a:t> ADC </a:t>
            </a:r>
            <a:r>
              <a:rPr lang="zh-CN" altLang="en-US"/>
              <a:t>位数、阈值、数据搬运策略等设计决策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19125" y="767715"/>
            <a:ext cx="10663555" cy="5323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/>
              <a:t>2. V1 </a:t>
            </a:r>
            <a:r>
              <a:rPr lang="en-US" altLang="en-US" sz="2000" b="1"/>
              <a:t>→</a:t>
            </a:r>
            <a:r>
              <a:rPr lang="en-US" altLang="zh-CN" sz="2000" b="1"/>
              <a:t> V2 </a:t>
            </a:r>
            <a:r>
              <a:rPr lang="en-US" altLang="en-US" sz="2000" b="1"/>
              <a:t>→</a:t>
            </a:r>
            <a:r>
              <a:rPr lang="en-US" altLang="zh-CN" sz="2000" b="1"/>
              <a:t> V3 </a:t>
            </a:r>
            <a:r>
              <a:rPr lang="zh-CN" altLang="en-US" sz="2000" b="1"/>
              <a:t>迭代计划</a:t>
            </a:r>
            <a:endParaRPr lang="zh-CN" altLang="en-US" sz="2000" b="1"/>
          </a:p>
          <a:p>
            <a:endParaRPr lang="zh-CN" altLang="en-US" sz="2000" b="1"/>
          </a:p>
          <a:p>
            <a:r>
              <a:rPr lang="en-US" altLang="zh-CN" sz="2000" b="1"/>
              <a:t>V1</a:t>
            </a:r>
            <a:r>
              <a:rPr lang="zh-CN" altLang="en-US" sz="2000" b="1"/>
              <a:t>（</a:t>
            </a:r>
            <a:r>
              <a:rPr lang="en-US" altLang="zh-CN" sz="2000" b="1"/>
              <a:t>2026/06/30</a:t>
            </a:r>
            <a:r>
              <a:rPr lang="zh-CN" altLang="en-US" sz="2000" b="1"/>
              <a:t>）</a:t>
            </a:r>
            <a:r>
              <a:rPr lang="zh-CN" altLang="en-US" sz="2000"/>
              <a:t>：数字与模拟部分单独流片（风险最低，先保证</a:t>
            </a:r>
            <a:r>
              <a:rPr lang="en-US" altLang="zh-CN" sz="2000"/>
              <a:t>“</a:t>
            </a:r>
            <a:r>
              <a:rPr lang="zh-CN" altLang="en-US" sz="2000"/>
              <a:t>系统跑通</a:t>
            </a:r>
            <a:r>
              <a:rPr lang="en-US" altLang="zh-CN" sz="2000"/>
              <a:t>”</a:t>
            </a:r>
            <a:r>
              <a:rPr lang="zh-CN" altLang="en-US" sz="2000"/>
              <a:t>），后道集成</a:t>
            </a:r>
            <a:r>
              <a:rPr lang="en-US" altLang="zh-CN" sz="2000"/>
              <a:t> RRAM</a:t>
            </a:r>
            <a:endParaRPr lang="en-US" altLang="zh-CN" sz="2000"/>
          </a:p>
          <a:p>
            <a:endParaRPr lang="zh-CN" altLang="en-US" sz="2000"/>
          </a:p>
          <a:p>
            <a:r>
              <a:rPr lang="zh-CN" altLang="en-US" sz="2000"/>
              <a:t>数字与模拟分别验证成功后：片外数模混合集成（系统级对齐）</a:t>
            </a:r>
            <a:endParaRPr lang="zh-CN" altLang="en-US" sz="2000"/>
          </a:p>
          <a:p>
            <a:r>
              <a:rPr lang="en-US" altLang="zh-CN" sz="2000"/>
              <a:t>- </a:t>
            </a:r>
            <a:r>
              <a:rPr lang="zh-CN" altLang="en-US" sz="2000"/>
              <a:t>两颗芯片分别上板（各自</a:t>
            </a:r>
            <a:r>
              <a:rPr lang="en-US" altLang="zh-CN" sz="2000"/>
              <a:t> PCB</a:t>
            </a:r>
            <a:r>
              <a:rPr lang="zh-CN" altLang="en-US" sz="2000"/>
              <a:t>），通过排针</a:t>
            </a:r>
            <a:r>
              <a:rPr lang="en-US" altLang="zh-CN" sz="2000"/>
              <a:t>/</a:t>
            </a:r>
            <a:r>
              <a:rPr lang="zh-CN" altLang="en-US" sz="2000"/>
              <a:t>连接器做片外互联</a:t>
            </a:r>
            <a:endParaRPr lang="zh-CN" altLang="en-US" sz="2000"/>
          </a:p>
          <a:p>
            <a:r>
              <a:rPr lang="en-US" altLang="zh-CN" sz="2000"/>
              <a:t>- </a:t>
            </a:r>
            <a:r>
              <a:rPr lang="zh-CN" altLang="en-US" sz="2000"/>
              <a:t>在同一时钟</a:t>
            </a:r>
            <a:r>
              <a:rPr lang="en-US" altLang="zh-CN" sz="2000"/>
              <a:t>/</a:t>
            </a:r>
            <a:r>
              <a:rPr lang="zh-CN" altLang="en-US" sz="2000"/>
              <a:t>复位下跑通端到端推理流程</a:t>
            </a:r>
            <a:endParaRPr lang="zh-CN" altLang="en-US" sz="2000"/>
          </a:p>
          <a:p>
            <a:endParaRPr lang="zh-CN" altLang="en-US" sz="2000"/>
          </a:p>
          <a:p>
            <a:r>
              <a:rPr lang="en-US" altLang="zh-CN" sz="2000" b="1"/>
              <a:t>V2&amp;V3</a:t>
            </a:r>
            <a:r>
              <a:rPr lang="zh-CN" altLang="en-US" sz="2000" b="1"/>
              <a:t>：</a:t>
            </a:r>
            <a:r>
              <a:rPr lang="zh-CN" altLang="en-US" sz="2000"/>
              <a:t>数字侧加入</a:t>
            </a:r>
            <a:r>
              <a:rPr lang="en-US" altLang="zh-CN" sz="2000"/>
              <a:t>“</a:t>
            </a:r>
            <a:r>
              <a:rPr lang="zh-CN" altLang="en-US" sz="2000"/>
              <a:t>强依赖器件特性</a:t>
            </a:r>
            <a:r>
              <a:rPr lang="en-US" altLang="zh-CN" sz="2000"/>
              <a:t>”</a:t>
            </a:r>
            <a:r>
              <a:rPr lang="zh-CN" altLang="en-US" sz="2000"/>
              <a:t>的机制（在器件数据稳定后再做）</a:t>
            </a:r>
            <a:r>
              <a:rPr lang="en-US" altLang="zh-CN" sz="2000"/>
              <a:t>/</a:t>
            </a:r>
            <a:r>
              <a:rPr lang="zh-CN" altLang="en-US" sz="2000">
                <a:sym typeface="+mn-ea"/>
              </a:rPr>
              <a:t>片上数模混合集成（最高风险、最高系统完整度）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r>
              <a:rPr lang="zh-CN" altLang="en-US" sz="2000" b="1"/>
              <a:t>支线合作方向：把氧化物</a:t>
            </a:r>
            <a:r>
              <a:rPr lang="en-US" altLang="zh-CN" sz="2000" b="1"/>
              <a:t> RRAM </a:t>
            </a:r>
            <a:r>
              <a:rPr lang="zh-CN" altLang="en-US" sz="2000" b="1"/>
              <a:t>阵列做成可用的存储器宏</a:t>
            </a:r>
            <a:endParaRPr lang="zh-CN" altLang="en-US" sz="2000" b="1"/>
          </a:p>
          <a:p>
            <a:endParaRPr lang="zh-CN" altLang="en-US" sz="2000"/>
          </a:p>
          <a:p>
            <a:r>
              <a:rPr lang="zh-CN" altLang="en-US" sz="2000"/>
              <a:t>氧化物</a:t>
            </a:r>
            <a:r>
              <a:rPr lang="en-US" altLang="zh-CN" sz="2000"/>
              <a:t> RRAM </a:t>
            </a:r>
            <a:r>
              <a:rPr lang="zh-CN" altLang="en-US" sz="2000"/>
              <a:t>在</a:t>
            </a:r>
            <a:r>
              <a:rPr lang="en-US" altLang="zh-CN" sz="2000"/>
              <a:t> binary</a:t>
            </a:r>
            <a:r>
              <a:rPr lang="zh-CN" altLang="en-US" sz="2000"/>
              <a:t>情况下性能极好，为</a:t>
            </a:r>
            <a:r>
              <a:rPr lang="en-US" altLang="zh-CN" sz="2000"/>
              <a:t> RRAM </a:t>
            </a:r>
            <a:r>
              <a:rPr lang="zh-CN" altLang="en-US" sz="2000"/>
              <a:t>阵列设计</a:t>
            </a:r>
            <a:r>
              <a:rPr lang="en-US" altLang="zh-CN" sz="2000"/>
              <a:t> </a:t>
            </a:r>
            <a:r>
              <a:rPr lang="zh-CN" altLang="en-US" sz="2000"/>
              <a:t>数字外围电路，把它封装成一个可集成进</a:t>
            </a:r>
            <a:r>
              <a:rPr lang="en-US" altLang="zh-CN" sz="2000"/>
              <a:t> SoC </a:t>
            </a:r>
            <a:r>
              <a:rPr lang="zh-CN" altLang="en-US" sz="2000"/>
              <a:t>的存储器宏，提供清晰、稳定、可验证的存储器接口与时序。</a:t>
            </a:r>
            <a:endParaRPr lang="zh-C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40715" y="520065"/>
            <a:ext cx="10739755" cy="6185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/>
              <a:t>3. </a:t>
            </a:r>
            <a:r>
              <a:rPr lang="zh-CN" altLang="en-US" b="1"/>
              <a:t>一次推理是怎么跑的（从上电到输出）</a:t>
            </a:r>
            <a:endParaRPr lang="zh-CN" altLang="en-US" b="1"/>
          </a:p>
          <a:p>
            <a:endParaRPr lang="en-US" altLang="zh-CN"/>
          </a:p>
          <a:p>
            <a:r>
              <a:rPr lang="en-US" altLang="zh-CN" b="1"/>
              <a:t>3.1 </a:t>
            </a:r>
            <a:r>
              <a:rPr lang="zh-CN" altLang="en-US" b="1"/>
              <a:t>输入编码</a:t>
            </a:r>
            <a:endParaRPr lang="zh-CN" altLang="en-US" b="1"/>
          </a:p>
          <a:p>
            <a:r>
              <a:rPr lang="en-US" altLang="zh-CN"/>
              <a:t>- MNIST 28</a:t>
            </a:r>
            <a:r>
              <a:rPr lang="en-US" altLang="en-US"/>
              <a:t>×</a:t>
            </a:r>
            <a:r>
              <a:rPr lang="en-US" altLang="zh-CN"/>
              <a:t>28 </a:t>
            </a:r>
            <a:r>
              <a:rPr lang="zh-CN" altLang="en-US"/>
              <a:t>灰度图（</a:t>
            </a:r>
            <a:r>
              <a:rPr lang="en-US" altLang="zh-CN"/>
              <a:t>8-bit</a:t>
            </a:r>
            <a:r>
              <a:rPr lang="zh-CN" altLang="en-US"/>
              <a:t>）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软件降采样为</a:t>
            </a:r>
            <a:r>
              <a:rPr lang="en-US" altLang="zh-CN"/>
              <a:t> 7</a:t>
            </a:r>
            <a:r>
              <a:rPr lang="en-US" altLang="en-US"/>
              <a:t>×</a:t>
            </a:r>
            <a:r>
              <a:rPr lang="en-US" altLang="zh-CN"/>
              <a:t>7</a:t>
            </a:r>
            <a:r>
              <a:rPr lang="zh-CN" altLang="en-US"/>
              <a:t>（</a:t>
            </a:r>
            <a:r>
              <a:rPr lang="en-US" altLang="zh-CN"/>
              <a:t>49 </a:t>
            </a:r>
            <a:r>
              <a:rPr lang="zh-CN" altLang="en-US"/>
              <a:t>像素）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每个像素</a:t>
            </a:r>
            <a:r>
              <a:rPr lang="en-US" altLang="zh-CN"/>
              <a:t> 8-bit </a:t>
            </a:r>
            <a:r>
              <a:rPr lang="en-US" altLang="en-US"/>
              <a:t>→</a:t>
            </a:r>
            <a:r>
              <a:rPr lang="en-US" altLang="zh-CN"/>
              <a:t> bit-plane</a:t>
            </a:r>
            <a:r>
              <a:rPr lang="zh-CN" altLang="en-US"/>
              <a:t>：把一张图拆成</a:t>
            </a:r>
            <a:r>
              <a:rPr lang="en-US" altLang="zh-CN"/>
              <a:t> 8 </a:t>
            </a:r>
            <a:r>
              <a:rPr lang="zh-CN" altLang="en-US"/>
              <a:t>个子时间步（</a:t>
            </a:r>
            <a:r>
              <a:rPr lang="en-US" altLang="zh-CN"/>
              <a:t>MSB</a:t>
            </a:r>
            <a:r>
              <a:rPr lang="en-US" altLang="en-US"/>
              <a:t>→</a:t>
            </a:r>
            <a:r>
              <a:rPr lang="en-US" altLang="zh-CN"/>
              <a:t>LSB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同一子时间步内：并行送入</a:t>
            </a:r>
            <a:r>
              <a:rPr lang="en-US" altLang="zh-CN"/>
              <a:t> 49 </a:t>
            </a:r>
            <a:r>
              <a:rPr lang="zh-CN" altLang="en-US"/>
              <a:t>个像素的第</a:t>
            </a:r>
            <a:r>
              <a:rPr lang="en-US" altLang="zh-CN"/>
              <a:t> x </a:t>
            </a:r>
            <a:r>
              <a:rPr lang="zh-CN" altLang="en-US"/>
              <a:t>位（</a:t>
            </a:r>
            <a:r>
              <a:rPr lang="en-US" altLang="zh-CN"/>
              <a:t>49 </a:t>
            </a:r>
            <a:r>
              <a:rPr lang="zh-CN" altLang="en-US"/>
              <a:t>路</a:t>
            </a:r>
            <a:r>
              <a:rPr lang="en-US" altLang="zh-CN"/>
              <a:t> 0/1</a:t>
            </a:r>
            <a:r>
              <a:rPr lang="zh-CN" altLang="en-US"/>
              <a:t>）</a:t>
            </a:r>
            <a:endParaRPr lang="zh-CN" altLang="en-US"/>
          </a:p>
          <a:p>
            <a:endParaRPr lang="en-US" altLang="zh-CN"/>
          </a:p>
          <a:p>
            <a:r>
              <a:rPr lang="en-US" altLang="zh-CN" b="1"/>
              <a:t>3.2 </a:t>
            </a:r>
            <a:r>
              <a:rPr lang="zh-CN" altLang="en-US" b="1"/>
              <a:t>关键循环（每帧</a:t>
            </a:r>
            <a:r>
              <a:rPr lang="en-US" altLang="zh-CN" b="1"/>
              <a:t> 8 </a:t>
            </a:r>
            <a:r>
              <a:rPr lang="zh-CN" altLang="en-US" b="1"/>
              <a:t>个子时间步）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对每一帧（</a:t>
            </a:r>
            <a:r>
              <a:rPr lang="en-US" altLang="zh-CN"/>
              <a:t>TIMESTEPS </a:t>
            </a:r>
            <a:r>
              <a:rPr lang="zh-CN" altLang="en-US"/>
              <a:t>次，可重复同一张图以积累膜电位）：</a:t>
            </a:r>
            <a:endParaRPr lang="zh-CN" altLang="en-US"/>
          </a:p>
          <a:p>
            <a:r>
              <a:rPr lang="en-US" altLang="zh-CN"/>
              <a:t>1. DMA </a:t>
            </a:r>
            <a:r>
              <a:rPr lang="zh-CN" altLang="en-US"/>
              <a:t>把一个</a:t>
            </a:r>
            <a:r>
              <a:rPr lang="en-US" altLang="zh-CN"/>
              <a:t> bit-plane</a:t>
            </a:r>
            <a:r>
              <a:rPr lang="zh-CN" altLang="en-US"/>
              <a:t>（</a:t>
            </a:r>
            <a:r>
              <a:rPr lang="en-US" altLang="zh-CN"/>
              <a:t>49-bit</a:t>
            </a:r>
            <a:r>
              <a:rPr lang="zh-CN" altLang="en-US"/>
              <a:t>）送入</a:t>
            </a:r>
            <a:r>
              <a:rPr lang="en-US" altLang="zh-CN"/>
              <a:t> input_fifo  </a:t>
            </a:r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控制器取出</a:t>
            </a:r>
            <a:r>
              <a:rPr lang="en-US" altLang="zh-CN"/>
              <a:t> bit-plane </a:t>
            </a:r>
            <a:r>
              <a:rPr lang="en-US" altLang="en-US"/>
              <a:t>→</a:t>
            </a:r>
            <a:r>
              <a:rPr lang="en-US" altLang="zh-CN"/>
              <a:t> DAC </a:t>
            </a:r>
            <a:r>
              <a:rPr lang="zh-CN" altLang="en-US"/>
              <a:t>握手锁存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3. </a:t>
            </a:r>
            <a:r>
              <a:rPr lang="zh-CN" altLang="en-US"/>
              <a:t>触发</a:t>
            </a:r>
            <a:r>
              <a:rPr lang="en-US" altLang="zh-CN"/>
              <a:t> CIM </a:t>
            </a:r>
            <a:r>
              <a:rPr lang="zh-CN" altLang="en-US"/>
              <a:t>计算</a:t>
            </a:r>
            <a:r>
              <a:rPr lang="en-US" altLang="zh-CN"/>
              <a:t> </a:t>
            </a:r>
            <a:r>
              <a:rPr lang="zh-CN" altLang="en-US"/>
              <a:t>，等待</a:t>
            </a:r>
            <a:r>
              <a:rPr lang="en-US" altLang="zh-CN"/>
              <a:t> cim_done  </a:t>
            </a:r>
            <a:endParaRPr lang="en-US" altLang="zh-CN"/>
          </a:p>
          <a:p>
            <a:r>
              <a:rPr lang="en-US" altLang="zh-CN"/>
              <a:t>4. ADC </a:t>
            </a:r>
            <a:r>
              <a:rPr lang="zh-CN" altLang="en-US"/>
              <a:t>时分复用</a:t>
            </a:r>
            <a:r>
              <a:rPr lang="en-US" altLang="zh-CN"/>
              <a:t> 10 </a:t>
            </a:r>
            <a:r>
              <a:rPr lang="zh-CN" altLang="en-US"/>
              <a:t>路输出：</a:t>
            </a:r>
            <a:endParaRPr lang="zh-CN" altLang="en-US"/>
          </a:p>
          <a:p>
            <a:r>
              <a:rPr lang="en-US" altLang="zh-CN"/>
              <a:t>5. LIF</a:t>
            </a:r>
            <a:r>
              <a:rPr lang="zh-CN" altLang="en-US"/>
              <a:t>先进行权重</a:t>
            </a:r>
            <a:r>
              <a:rPr lang="zh-CN" altLang="en-US"/>
              <a:t>累加：超过阈值则产生</a:t>
            </a:r>
            <a:r>
              <a:rPr lang="en-US" altLang="zh-CN"/>
              <a:t> spike </a:t>
            </a:r>
            <a:r>
              <a:rPr lang="zh-CN" altLang="en-US"/>
              <a:t>写入</a:t>
            </a:r>
            <a:r>
              <a:rPr lang="en-US" altLang="zh-CN"/>
              <a:t> output_fifo  </a:t>
            </a:r>
            <a:endParaRPr lang="en-US" altLang="zh-CN"/>
          </a:p>
          <a:p>
            <a:r>
              <a:rPr lang="en-US" altLang="zh-CN"/>
              <a:t>6. </a:t>
            </a:r>
            <a:r>
              <a:rPr lang="zh-CN" altLang="en-US"/>
              <a:t>一帧</a:t>
            </a:r>
            <a:r>
              <a:rPr lang="en-US" altLang="zh-CN"/>
              <a:t> 8 </a:t>
            </a:r>
            <a:r>
              <a:rPr lang="zh-CN" altLang="en-US"/>
              <a:t>个</a:t>
            </a:r>
            <a:r>
              <a:rPr lang="en-US" altLang="zh-CN"/>
              <a:t> bit-plane </a:t>
            </a:r>
            <a:r>
              <a:rPr lang="zh-CN" altLang="en-US"/>
              <a:t>完成后进入下一帧；所有帧完成后</a:t>
            </a:r>
            <a:r>
              <a:rPr lang="en-US" altLang="zh-CN"/>
              <a:t> done</a:t>
            </a:r>
            <a:endParaRPr lang="en-US" altLang="zh-CN"/>
          </a:p>
          <a:p>
            <a:endParaRPr lang="en-US" altLang="zh-CN"/>
          </a:p>
          <a:p>
            <a:r>
              <a:rPr lang="en-US" altLang="zh-CN" b="1"/>
              <a:t> 3.3 </a:t>
            </a:r>
            <a:r>
              <a:rPr lang="zh-CN" altLang="en-US" b="1"/>
              <a:t>为什么会有</a:t>
            </a:r>
            <a:r>
              <a:rPr lang="en-US" altLang="zh-CN" b="1"/>
              <a:t> TIMESTEPS</a:t>
            </a:r>
            <a:r>
              <a:rPr lang="zh-CN" altLang="en-US" b="1"/>
              <a:t>（帧数）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很多情况下需要</a:t>
            </a:r>
            <a:r>
              <a:rPr lang="en-US" altLang="zh-CN"/>
              <a:t> </a:t>
            </a:r>
            <a:r>
              <a:rPr lang="zh-CN" altLang="en-US"/>
              <a:t>跨多个时间步积累才容易超过阈值形成稳定</a:t>
            </a:r>
            <a:r>
              <a:rPr lang="en-US" altLang="zh-CN"/>
              <a:t> spike</a:t>
            </a:r>
            <a:r>
              <a:rPr lang="zh-CN" altLang="en-US"/>
              <a:t>。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TIMESTEPS </a:t>
            </a:r>
            <a:r>
              <a:rPr lang="zh-CN" altLang="en-US"/>
              <a:t>可用来做性能</a:t>
            </a:r>
            <a:r>
              <a:rPr lang="en-US" altLang="zh-CN"/>
              <a:t>/</a:t>
            </a:r>
            <a:r>
              <a:rPr lang="zh-CN" altLang="en-US"/>
              <a:t>能耗</a:t>
            </a:r>
            <a:r>
              <a:rPr lang="en-US" altLang="zh-CN"/>
              <a:t>/</a:t>
            </a:r>
            <a:r>
              <a:rPr lang="zh-CN" altLang="en-US"/>
              <a:t>准确率权衡，也方便实验复现。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988060" y="751840"/>
            <a:ext cx="990981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/>
              <a:t>6. </a:t>
            </a:r>
            <a:r>
              <a:rPr lang="zh-CN" altLang="en-US" b="1"/>
              <a:t>当前工程做到什么程度了</a:t>
            </a:r>
            <a:endParaRPr lang="zh-CN" altLang="en-US" b="1"/>
          </a:p>
          <a:p>
            <a:endParaRPr lang="en-US" altLang="zh-CN"/>
          </a:p>
          <a:p>
            <a:r>
              <a:rPr lang="en-US" altLang="zh-CN" b="1"/>
              <a:t>6.1 </a:t>
            </a:r>
            <a:r>
              <a:rPr lang="zh-CN" altLang="en-US" b="1"/>
              <a:t>已实现（仿真验证已经跑通</a:t>
            </a:r>
            <a:r>
              <a:rPr lang="en-US" altLang="zh-CN" b="1"/>
              <a:t> </a:t>
            </a:r>
            <a:r>
              <a:rPr lang="zh-CN" altLang="en-US" b="1"/>
              <a:t>）</a:t>
            </a:r>
            <a:endParaRPr lang="zh-CN" altLang="en-US" b="1"/>
          </a:p>
          <a:p>
            <a:r>
              <a:rPr lang="en-US" altLang="zh-CN"/>
              <a:t>- </a:t>
            </a:r>
            <a:r>
              <a:rPr lang="zh-CN" altLang="en-US"/>
              <a:t>总线</a:t>
            </a:r>
            <a:r>
              <a:rPr lang="en-US" altLang="zh-CN"/>
              <a:t>/</a:t>
            </a:r>
            <a:r>
              <a:rPr lang="zh-CN" altLang="en-US"/>
              <a:t>寄存器映射（</a:t>
            </a:r>
            <a:r>
              <a:rPr lang="en-US" altLang="zh-CN"/>
              <a:t>simple bus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- instr/data/weight SRAM</a:t>
            </a:r>
            <a:endParaRPr lang="zh-CN" altLang="en-US"/>
          </a:p>
          <a:p>
            <a:r>
              <a:rPr lang="en-US" altLang="zh-CN"/>
              <a:t>- DMA</a:t>
            </a:r>
            <a:r>
              <a:rPr lang="zh-CN" altLang="en-US"/>
              <a:t>（固定路径：</a:t>
            </a:r>
            <a:r>
              <a:rPr lang="en-US" altLang="zh-CN"/>
              <a:t>data_sram </a:t>
            </a:r>
            <a:r>
              <a:rPr lang="en-US" altLang="en-US"/>
              <a:t>→</a:t>
            </a:r>
            <a:r>
              <a:rPr lang="en-US" altLang="zh-CN"/>
              <a:t> input_fifo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- input_fifo / output_fifo</a:t>
            </a:r>
            <a:r>
              <a:rPr lang="zh-CN" altLang="en-US"/>
              <a:t>（速率解耦与事件缓冲）</a:t>
            </a:r>
            <a:endParaRPr lang="zh-CN" altLang="en-US"/>
          </a:p>
          <a:p>
            <a:r>
              <a:rPr lang="en-US" altLang="zh-CN"/>
              <a:t>- SNN </a:t>
            </a:r>
            <a:r>
              <a:rPr lang="zh-CN" altLang="en-US"/>
              <a:t>控制链：</a:t>
            </a:r>
            <a:r>
              <a:rPr lang="en-US" altLang="zh-CN"/>
              <a:t>DAC_CTRL / CIM_CTRL / ADC_CTRL</a:t>
            </a:r>
            <a:r>
              <a:rPr lang="zh-CN" altLang="en-US"/>
              <a:t>（含</a:t>
            </a:r>
            <a:r>
              <a:rPr lang="en-US" altLang="zh-CN"/>
              <a:t> 10 </a:t>
            </a:r>
            <a:r>
              <a:rPr lang="zh-CN" altLang="en-US"/>
              <a:t>路时分复用）</a:t>
            </a:r>
            <a:endParaRPr lang="zh-CN" altLang="en-US"/>
          </a:p>
          <a:p>
            <a:r>
              <a:rPr lang="en-US" altLang="zh-CN"/>
              <a:t>- LIF </a:t>
            </a:r>
            <a:r>
              <a:rPr lang="zh-CN" altLang="en-US"/>
              <a:t>神经元：按</a:t>
            </a:r>
            <a:r>
              <a:rPr lang="en-US" altLang="zh-CN"/>
              <a:t> bitplane_shift </a:t>
            </a:r>
            <a:r>
              <a:rPr lang="zh-CN" altLang="en-US"/>
              <a:t>移位累加</a:t>
            </a:r>
            <a:r>
              <a:rPr lang="en-US" altLang="zh-CN"/>
              <a:t> + </a:t>
            </a:r>
            <a:r>
              <a:rPr lang="zh-CN" altLang="en-US"/>
              <a:t>阈值比较</a:t>
            </a:r>
            <a:r>
              <a:rPr lang="en-US" altLang="zh-CN"/>
              <a:t> + spike </a:t>
            </a:r>
            <a:r>
              <a:rPr lang="zh-CN" altLang="en-US"/>
              <a:t>输出</a:t>
            </a:r>
            <a:endParaRPr lang="zh-CN" altLang="en-US"/>
          </a:p>
          <a:p>
            <a:r>
              <a:rPr lang="en-US" altLang="zh-CN"/>
              <a:t>- CIM Macro</a:t>
            </a:r>
            <a:r>
              <a:rPr lang="zh-CN" altLang="en-US"/>
              <a:t>：仿真用行为模型（可复现输出），综合时为黑盒（替换真实宏）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</a:t>
            </a:r>
            <a:r>
              <a:rPr lang="en-US" altLang="zh-CN" b="1"/>
              <a:t>6.2 </a:t>
            </a:r>
            <a:r>
              <a:rPr lang="zh-CN" altLang="en-US" b="1"/>
              <a:t>未实现</a:t>
            </a:r>
            <a:r>
              <a:rPr lang="en-US" altLang="zh-CN" b="1"/>
              <a:t>/</a:t>
            </a:r>
            <a:r>
              <a:rPr lang="zh-CN" altLang="en-US" b="1"/>
              <a:t>占位（完整版要补）</a:t>
            </a:r>
            <a:endParaRPr lang="zh-CN" altLang="en-US"/>
          </a:p>
          <a:p>
            <a:r>
              <a:rPr lang="en-US" altLang="zh-CN"/>
              <a:t>- UART/SPI/JTAG</a:t>
            </a:r>
            <a:r>
              <a:rPr lang="zh-CN" altLang="en-US"/>
              <a:t>：目前是</a:t>
            </a:r>
            <a:r>
              <a:rPr lang="en-US" altLang="zh-CN"/>
              <a:t> stub</a:t>
            </a:r>
            <a:r>
              <a:rPr lang="zh-CN" altLang="en-US"/>
              <a:t>（占位，不做真实协议）</a:t>
            </a:r>
            <a:endParaRPr lang="zh-CN" altLang="en-US"/>
          </a:p>
          <a:p>
            <a:r>
              <a:rPr lang="en-US" altLang="zh-CN"/>
              <a:t>- CPU+ AXI-Lite </a:t>
            </a:r>
            <a:r>
              <a:rPr lang="zh-CN" altLang="en-US"/>
              <a:t>总线：规划中，后续接入以支持固件</a:t>
            </a:r>
            <a:r>
              <a:rPr lang="en-US" altLang="zh-CN"/>
              <a:t>/</a:t>
            </a:r>
            <a:r>
              <a:rPr lang="zh-CN" altLang="en-US"/>
              <a:t>外部</a:t>
            </a:r>
            <a:r>
              <a:rPr lang="en-US" altLang="zh-CN"/>
              <a:t> Flash </a:t>
            </a:r>
            <a:r>
              <a:rPr lang="zh-CN" altLang="en-US"/>
              <a:t>启动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5010" y="280670"/>
            <a:ext cx="10515600" cy="4351338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zh-CN"/>
              <a:t>7</a:t>
            </a:r>
            <a:r>
              <a:rPr lang="zh-CN" altLang="en-US"/>
              <a:t>、需要收集哪些器件</a:t>
            </a:r>
            <a:r>
              <a:rPr lang="zh-CN" altLang="en-US"/>
              <a:t>信息？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870585" y="742315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37180"/>
                <a:gridCol w="28511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优先级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需要拿到的信息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用于什么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🔴</a:t>
                      </a:r>
                      <a:r>
                        <a:rPr lang="en-US" altLang="zh-CN" sz="1600"/>
                        <a:t> </a:t>
                      </a:r>
                      <a:r>
                        <a:rPr lang="zh-CN" altLang="en-US" sz="1600"/>
                        <a:t>🔴</a:t>
                      </a:r>
                      <a:r>
                        <a:rPr lang="en-US" altLang="zh-CN" sz="1600"/>
                        <a:t> </a:t>
                      </a:r>
                      <a:r>
                        <a:rPr lang="zh-CN" altLang="en-US" sz="1600"/>
                        <a:t>🔴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电导值范围与级数（</a:t>
                      </a:r>
                      <a:r>
                        <a:rPr lang="en-US" altLang="zh-CN" sz="1600"/>
                        <a:t>conductance range + levels</a:t>
                      </a:r>
                      <a:r>
                        <a:rPr lang="zh-CN" altLang="en-US" sz="1600"/>
                        <a:t>，含分布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方差）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权重量化映射、输出动态范围、</a:t>
                      </a:r>
                      <a:r>
                        <a:rPr lang="en-US" altLang="zh-CN" sz="1600"/>
                        <a:t>ADC </a:t>
                      </a:r>
                      <a:r>
                        <a:rPr lang="zh-CN" altLang="en-US" sz="1600"/>
                        <a:t>位数初值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🔴</a:t>
                      </a:r>
                      <a:r>
                        <a:rPr lang="en-US" altLang="zh-CN" sz="1600"/>
                        <a:t> </a:t>
                      </a:r>
                      <a:r>
                        <a:rPr lang="zh-CN" altLang="en-US" sz="1600"/>
                        <a:t>🔴</a:t>
                      </a:r>
                      <a:r>
                        <a:rPr lang="en-US" altLang="zh-CN" sz="1600"/>
                        <a:t> </a:t>
                      </a:r>
                      <a:r>
                        <a:rPr lang="zh-CN" altLang="en-US" sz="1600"/>
                        <a:t>🔴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是否支持写权重</a:t>
                      </a:r>
                      <a:r>
                        <a:rPr lang="en-US" altLang="zh-CN" sz="1600"/>
                        <a:t> + </a:t>
                      </a:r>
                      <a:r>
                        <a:rPr lang="zh-CN" altLang="en-US" sz="1600"/>
                        <a:t>写入接口要求（脉冲类型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幅度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宽度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次数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是否需要</a:t>
                      </a:r>
                      <a:r>
                        <a:rPr lang="en-US" altLang="zh-CN" sz="1600"/>
                        <a:t> verify</a:t>
                      </a:r>
                      <a:r>
                        <a:rPr lang="zh-CN" altLang="en-US" sz="1600"/>
                        <a:t>）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决定是否做</a:t>
                      </a:r>
                      <a:r>
                        <a:rPr lang="en-US" altLang="zh-CN" sz="1600"/>
                        <a:t> Program-and-Verify</a:t>
                      </a:r>
                      <a:r>
                        <a:rPr lang="zh-CN" altLang="en-US" sz="1600"/>
                        <a:t>、是否需要写入通路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寄存器</a:t>
                      </a:r>
                      <a:r>
                        <a:rPr lang="en-US" altLang="zh-CN" sz="1600"/>
                        <a:t>/DMA </a:t>
                      </a:r>
                      <a:r>
                        <a:rPr lang="zh-CN" altLang="en-US" sz="1600"/>
                        <a:t>扩展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🔴</a:t>
                      </a:r>
                      <a:r>
                        <a:rPr lang="en-US" altLang="zh-CN" sz="1600"/>
                        <a:t> </a:t>
                      </a:r>
                      <a:r>
                        <a:rPr lang="zh-CN" altLang="en-US" sz="1600"/>
                        <a:t>🔴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读噪声特性（</a:t>
                      </a:r>
                      <a:r>
                        <a:rPr lang="en-US" altLang="zh-CN" sz="1600"/>
                        <a:t>RMS/</a:t>
                      </a:r>
                      <a:r>
                        <a:rPr lang="zh-CN" altLang="en-US" sz="1600"/>
                        <a:t>峰峰值、随温度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时间变化、与读电压关系）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Python </a:t>
                      </a:r>
                      <a:r>
                        <a:rPr lang="zh-CN" altLang="en-US" sz="1600"/>
                        <a:t>建模中</a:t>
                      </a:r>
                      <a:r>
                        <a:rPr lang="en-US" altLang="zh-CN" sz="1600"/>
                        <a:t> ADC </a:t>
                      </a:r>
                      <a:r>
                        <a:rPr lang="zh-CN" altLang="en-US" sz="1600"/>
                        <a:t>误差</a:t>
                      </a:r>
                      <a:r>
                        <a:rPr lang="en-US" altLang="zh-CN" sz="1600"/>
                        <a:t>/ENOB </a:t>
                      </a:r>
                      <a:r>
                        <a:rPr lang="zh-CN" altLang="en-US" sz="1600"/>
                        <a:t>估算、容错策略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🔴</a:t>
                      </a:r>
                      <a:r>
                        <a:rPr lang="en-US" altLang="zh-CN" sz="1600"/>
                        <a:t> 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温漂、保持、耐写次数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V2/V3 </a:t>
                      </a:r>
                      <a:r>
                        <a:rPr lang="zh-CN" altLang="en-US" sz="1600"/>
                        <a:t>可靠性与校准策略（现在知道越早越好，不急）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70585" y="4287520"/>
            <a:ext cx="1011237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额外补充：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权重</a:t>
            </a:r>
            <a:r>
              <a:rPr lang="en-US" altLang="zh-CN"/>
              <a:t>“</a:t>
            </a:r>
            <a:r>
              <a:rPr lang="zh-CN" altLang="en-US"/>
              <a:t>正负号</a:t>
            </a:r>
            <a:r>
              <a:rPr lang="en-US" altLang="zh-CN"/>
              <a:t>”</a:t>
            </a:r>
            <a:r>
              <a:rPr lang="zh-CN" altLang="en-US"/>
              <a:t>怎么支持？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训练得到的权重通常有正负；需要确认：差分阵列</a:t>
            </a:r>
            <a:r>
              <a:rPr lang="en-US" altLang="zh-CN"/>
              <a:t>/</a:t>
            </a:r>
            <a:r>
              <a:rPr lang="zh-CN" altLang="en-US"/>
              <a:t>双阵列相减</a:t>
            </a:r>
            <a:r>
              <a:rPr lang="en-US" altLang="zh-CN"/>
              <a:t>/2T2R/offset mapping </a:t>
            </a:r>
            <a:r>
              <a:rPr lang="zh-CN" altLang="en-US"/>
              <a:t>哪一种可行。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这会直接影响</a:t>
            </a:r>
            <a:r>
              <a:rPr lang="en-US" altLang="zh-CN"/>
              <a:t> ADC </a:t>
            </a:r>
            <a:r>
              <a:rPr lang="zh-CN" altLang="en-US"/>
              <a:t>量化范围（单极</a:t>
            </a:r>
            <a:r>
              <a:rPr lang="en-US" altLang="zh-CN"/>
              <a:t>/</a:t>
            </a:r>
            <a:r>
              <a:rPr lang="zh-CN" altLang="en-US"/>
              <a:t>双极）与系统精度。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读出电压</a:t>
            </a:r>
            <a:r>
              <a:rPr lang="en-US" altLang="zh-CN"/>
              <a:t>/</a:t>
            </a:r>
            <a:r>
              <a:rPr lang="zh-CN" altLang="en-US"/>
              <a:t>电流范围（</a:t>
            </a:r>
            <a:r>
              <a:rPr lang="en-US" altLang="zh-CN"/>
              <a:t>ADC </a:t>
            </a:r>
            <a:r>
              <a:rPr lang="zh-CN" altLang="en-US"/>
              <a:t>前端输入范围</a:t>
            </a:r>
            <a:r>
              <a:rPr lang="en-US" altLang="zh-CN"/>
              <a:t> &amp; </a:t>
            </a:r>
            <a:r>
              <a:rPr lang="zh-CN" altLang="en-US"/>
              <a:t>饱和点）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用于把</a:t>
            </a:r>
            <a:r>
              <a:rPr lang="en-US" altLang="zh-CN"/>
              <a:t>“</a:t>
            </a:r>
            <a:r>
              <a:rPr lang="zh-CN" altLang="en-US"/>
              <a:t>电导</a:t>
            </a:r>
            <a:r>
              <a:rPr lang="en-US" altLang="zh-CN"/>
              <a:t>/</a:t>
            </a:r>
            <a:r>
              <a:rPr lang="zh-CN" altLang="en-US"/>
              <a:t>电流</a:t>
            </a:r>
            <a:r>
              <a:rPr lang="en-US" altLang="zh-CN"/>
              <a:t>”</a:t>
            </a:r>
            <a:r>
              <a:rPr lang="zh-CN" altLang="en-US"/>
              <a:t>换算到</a:t>
            </a:r>
            <a:r>
              <a:rPr lang="en-US" altLang="zh-CN"/>
              <a:t>“ADC code”</a:t>
            </a:r>
            <a:r>
              <a:rPr lang="zh-CN" altLang="en-US"/>
              <a:t>的动态范围。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读出延迟</a:t>
            </a:r>
            <a:r>
              <a:rPr lang="en-US" altLang="zh-CN"/>
              <a:t>/</a:t>
            </a:r>
            <a:r>
              <a:rPr lang="zh-CN" altLang="en-US"/>
              <a:t>建立时间</a:t>
            </a:r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用于定系统时序参数（</a:t>
            </a:r>
            <a:r>
              <a:rPr lang="en-US" altLang="zh-CN"/>
              <a:t>DAC/CIM/ADC latency</a:t>
            </a:r>
            <a:r>
              <a:rPr lang="zh-CN" altLang="en-US"/>
              <a:t>），决定控制器节拍与吞吐。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102360" y="276225"/>
            <a:ext cx="971423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/>
              <a:t> 8. </a:t>
            </a:r>
            <a:r>
              <a:rPr lang="zh-CN" altLang="en-US" b="1"/>
              <a:t>交付的形式（建模用）</a:t>
            </a:r>
            <a:endParaRPr lang="zh-CN" altLang="en-US" b="1"/>
          </a:p>
          <a:p>
            <a:endParaRPr lang="en-US" altLang="zh-CN"/>
          </a:p>
          <a:p>
            <a:r>
              <a:rPr lang="en-US" altLang="zh-CN"/>
              <a:t>1) </a:t>
            </a:r>
            <a:r>
              <a:rPr lang="zh-CN" altLang="en-US"/>
              <a:t>电导级数据表）</a:t>
            </a:r>
            <a:endParaRPr lang="zh-CN" altLang="en-US"/>
          </a:p>
          <a:p>
            <a:r>
              <a:rPr lang="en-US" altLang="zh-CN"/>
              <a:t>- level index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典型值（</a:t>
            </a:r>
            <a:r>
              <a:rPr lang="en-US" altLang="zh-CN"/>
              <a:t>mean</a:t>
            </a:r>
            <a:r>
              <a:rPr lang="zh-CN" altLang="en-US"/>
              <a:t>）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方差</a:t>
            </a:r>
            <a:r>
              <a:rPr lang="en-US" altLang="zh-CN"/>
              <a:t>/</a:t>
            </a:r>
            <a:r>
              <a:rPr lang="zh-CN" altLang="en-US"/>
              <a:t>分布（</a:t>
            </a:r>
            <a:r>
              <a:rPr lang="en-US" altLang="zh-CN"/>
              <a:t>std </a:t>
            </a:r>
            <a:r>
              <a:rPr lang="zh-CN" altLang="en-US"/>
              <a:t>或直方图）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若有器件间</a:t>
            </a:r>
            <a:r>
              <a:rPr lang="en-US" altLang="zh-CN"/>
              <a:t>/</a:t>
            </a:r>
            <a:r>
              <a:rPr lang="zh-CN" altLang="en-US"/>
              <a:t>周期间差异，也建议分别给出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2) </a:t>
            </a:r>
            <a:r>
              <a:rPr lang="zh-CN" altLang="en-US"/>
              <a:t>读噪声模型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噪声的量纲（电导</a:t>
            </a:r>
            <a:r>
              <a:rPr lang="en-US" altLang="zh-CN"/>
              <a:t>/</a:t>
            </a:r>
            <a:r>
              <a:rPr lang="zh-CN" altLang="en-US"/>
              <a:t>电流</a:t>
            </a:r>
            <a:r>
              <a:rPr lang="en-US" altLang="zh-CN"/>
              <a:t>/</a:t>
            </a:r>
            <a:r>
              <a:rPr lang="zh-CN" altLang="en-US"/>
              <a:t>电压</a:t>
            </a:r>
            <a:r>
              <a:rPr lang="en-US" altLang="zh-CN"/>
              <a:t>/ADC code</a:t>
            </a:r>
            <a:r>
              <a:rPr lang="zh-CN" altLang="en-US"/>
              <a:t>）与随条件变化关系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3) </a:t>
            </a:r>
            <a:r>
              <a:rPr lang="zh-CN" altLang="en-US"/>
              <a:t>写入条件与可编程性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写脉冲（幅度</a:t>
            </a:r>
            <a:r>
              <a:rPr lang="en-US" altLang="zh-CN"/>
              <a:t>/</a:t>
            </a:r>
            <a:r>
              <a:rPr lang="zh-CN" altLang="en-US"/>
              <a:t>宽度</a:t>
            </a:r>
            <a:r>
              <a:rPr lang="en-US" altLang="zh-CN"/>
              <a:t>/</a:t>
            </a:r>
            <a:r>
              <a:rPr lang="zh-CN" altLang="en-US"/>
              <a:t>次数</a:t>
            </a:r>
            <a:r>
              <a:rPr lang="en-US" altLang="zh-CN"/>
              <a:t>/</a:t>
            </a:r>
            <a:r>
              <a:rPr lang="zh-CN" altLang="en-US"/>
              <a:t>极性</a:t>
            </a:r>
            <a:r>
              <a:rPr lang="en-US" altLang="zh-CN"/>
              <a:t>/</a:t>
            </a:r>
            <a:r>
              <a:rPr lang="zh-CN" altLang="en-US"/>
              <a:t>是否需要</a:t>
            </a:r>
            <a:r>
              <a:rPr lang="en-US" altLang="zh-CN"/>
              <a:t> forming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- Program-and-Verify </a:t>
            </a:r>
            <a:r>
              <a:rPr lang="zh-CN" altLang="en-US"/>
              <a:t>是否必要、</a:t>
            </a:r>
            <a:r>
              <a:rPr lang="en-US" altLang="zh-CN"/>
              <a:t>verify </a:t>
            </a:r>
            <a:r>
              <a:rPr lang="zh-CN" altLang="en-US"/>
              <a:t>的判据（误差容忍）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4) </a:t>
            </a:r>
            <a:r>
              <a:rPr lang="zh-CN" altLang="en-US"/>
              <a:t>阵列</a:t>
            </a:r>
            <a:r>
              <a:rPr lang="en-US" altLang="zh-CN"/>
              <a:t>/</a:t>
            </a:r>
            <a:r>
              <a:rPr lang="zh-CN" altLang="en-US"/>
              <a:t>单元结构信息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是否差分（正负权重）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阵列可行规模与主要限制因素（</a:t>
            </a:r>
            <a:r>
              <a:rPr lang="en-US" altLang="zh-CN"/>
              <a:t>IR drop</a:t>
            </a:r>
            <a:r>
              <a:rPr lang="zh-CN" altLang="en-US"/>
              <a:t>、串扰、</a:t>
            </a:r>
            <a:r>
              <a:rPr lang="en-US" altLang="zh-CN"/>
              <a:t>sneak path </a:t>
            </a:r>
            <a:r>
              <a:rPr lang="zh-CN" altLang="en-US"/>
              <a:t>等）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有条件的话：给一个</a:t>
            </a:r>
            <a:r>
              <a:rPr lang="en-US" altLang="zh-CN"/>
              <a:t>“</a:t>
            </a:r>
            <a:r>
              <a:rPr lang="zh-CN" altLang="en-US"/>
              <a:t>可简化的行为级模型</a:t>
            </a:r>
            <a:r>
              <a:rPr lang="en-US" altLang="zh-CN"/>
              <a:t>”</a:t>
            </a:r>
            <a:r>
              <a:rPr lang="zh-CN" altLang="en-US"/>
              <a:t>（哪怕只是一套经验公式），系统端会非常好用。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72795" y="474980"/>
            <a:ext cx="993902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9. </a:t>
            </a:r>
            <a:r>
              <a:rPr lang="zh-CN" altLang="en-US"/>
              <a:t>我拿到器件信息后会做什么（</a:t>
            </a:r>
            <a:r>
              <a:rPr lang="en-US" altLang="zh-CN"/>
              <a:t>Python </a:t>
            </a:r>
            <a:r>
              <a:rPr lang="zh-CN" altLang="en-US"/>
              <a:t>建模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设计决策）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我会建立一个与硬件链路一致的端到端仿真：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1) </a:t>
            </a:r>
            <a:r>
              <a:rPr lang="zh-CN" altLang="en-US"/>
              <a:t>软件预处理：</a:t>
            </a:r>
            <a:r>
              <a:rPr lang="en-US" altLang="zh-CN"/>
              <a:t>MNIST 28</a:t>
            </a:r>
            <a:r>
              <a:rPr lang="en-US" altLang="en-US"/>
              <a:t>×</a:t>
            </a:r>
            <a:r>
              <a:rPr lang="en-US" altLang="zh-CN"/>
              <a:t>28 </a:t>
            </a:r>
            <a:r>
              <a:rPr lang="en-US" altLang="en-US"/>
              <a:t>→</a:t>
            </a:r>
            <a:r>
              <a:rPr lang="en-US" altLang="zh-CN"/>
              <a:t> 7</a:t>
            </a:r>
            <a:r>
              <a:rPr lang="en-US" altLang="en-US"/>
              <a:t>×</a:t>
            </a:r>
            <a:r>
              <a:rPr lang="en-US" altLang="zh-CN"/>
              <a:t>7</a:t>
            </a:r>
            <a:r>
              <a:rPr lang="zh-CN" altLang="en-US"/>
              <a:t>（选择最合适降采样方式）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2) </a:t>
            </a:r>
            <a:r>
              <a:rPr lang="zh-CN" altLang="en-US"/>
              <a:t>训练</a:t>
            </a:r>
            <a:r>
              <a:rPr lang="en-US" altLang="zh-CN"/>
              <a:t>/</a:t>
            </a:r>
            <a:r>
              <a:rPr lang="zh-CN" altLang="en-US"/>
              <a:t>量化：训练得到</a:t>
            </a:r>
            <a:r>
              <a:rPr lang="en-US" altLang="zh-CN"/>
              <a:t> W</a:t>
            </a:r>
            <a:r>
              <a:rPr lang="zh-CN" altLang="en-US"/>
              <a:t>，再映射到器件可用的</a:t>
            </a:r>
            <a:r>
              <a:rPr lang="en-US" altLang="zh-CN"/>
              <a:t> conductance levels  </a:t>
            </a:r>
            <a:endParaRPr lang="en-US" altLang="zh-CN"/>
          </a:p>
          <a:p>
            <a:r>
              <a:rPr lang="en-US" altLang="zh-CN"/>
              <a:t>3) </a:t>
            </a:r>
            <a:r>
              <a:rPr lang="zh-CN" altLang="en-US"/>
              <a:t>加入器件噪声</a:t>
            </a:r>
            <a:r>
              <a:rPr lang="en-US" altLang="zh-CN"/>
              <a:t>/</a:t>
            </a:r>
            <a:r>
              <a:rPr lang="zh-CN" altLang="en-US"/>
              <a:t>漂移模型</a:t>
            </a:r>
            <a:r>
              <a:rPr lang="en-US" altLang="zh-CN"/>
              <a:t> + ADC </a:t>
            </a:r>
            <a:r>
              <a:rPr lang="zh-CN" altLang="en-US"/>
              <a:t>量化模型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4) </a:t>
            </a:r>
            <a:r>
              <a:rPr lang="zh-CN" altLang="en-US"/>
              <a:t>扫描参数并输出曲线：</a:t>
            </a:r>
            <a:endParaRPr lang="zh-CN" altLang="en-US"/>
          </a:p>
          <a:p>
            <a:r>
              <a:rPr lang="en-US" altLang="zh-CN"/>
              <a:t>   - ADC bits</a:t>
            </a:r>
            <a:r>
              <a:rPr lang="zh-CN" altLang="en-US"/>
              <a:t>（</a:t>
            </a:r>
            <a:r>
              <a:rPr lang="en-US" altLang="zh-CN"/>
              <a:t>8/10/12/14…</a:t>
            </a:r>
            <a:r>
              <a:rPr lang="zh-CN" altLang="en-US"/>
              <a:t>）</a:t>
            </a:r>
            <a:r>
              <a:rPr lang="en-US" altLang="zh-CN"/>
              <a:t> vs </a:t>
            </a:r>
            <a:r>
              <a:rPr lang="zh-CN" altLang="en-US"/>
              <a:t>准确率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   - </a:t>
            </a:r>
            <a:r>
              <a:rPr lang="zh-CN" altLang="en-US"/>
              <a:t>量化位宽（权重</a:t>
            </a:r>
            <a:r>
              <a:rPr lang="en-US" altLang="zh-CN"/>
              <a:t> bit</a:t>
            </a:r>
            <a:r>
              <a:rPr lang="zh-CN" altLang="en-US"/>
              <a:t>）</a:t>
            </a:r>
            <a:r>
              <a:rPr lang="en-US" altLang="zh-CN"/>
              <a:t> vs </a:t>
            </a:r>
            <a:r>
              <a:rPr lang="zh-CN" altLang="en-US"/>
              <a:t>准确率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   - </a:t>
            </a:r>
            <a:r>
              <a:rPr lang="zh-CN" altLang="en-US"/>
              <a:t>噪声强度</a:t>
            </a:r>
            <a:r>
              <a:rPr lang="en-US" altLang="zh-CN"/>
              <a:t> vs </a:t>
            </a:r>
            <a:r>
              <a:rPr lang="zh-CN" altLang="en-US"/>
              <a:t>准确率</a:t>
            </a:r>
            <a:r>
              <a:rPr lang="en-US" altLang="zh-CN"/>
              <a:t> 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5) </a:t>
            </a:r>
            <a:r>
              <a:rPr lang="zh-CN" altLang="en-US"/>
              <a:t>形成系统级设计决策：</a:t>
            </a:r>
            <a:endParaRPr lang="zh-CN" altLang="en-US"/>
          </a:p>
          <a:p>
            <a:r>
              <a:rPr lang="en-US" altLang="zh-CN"/>
              <a:t>   - ADC </a:t>
            </a:r>
            <a:r>
              <a:rPr lang="zh-CN" altLang="en-US"/>
              <a:t>位数（满足算法精度的最低位数</a:t>
            </a:r>
            <a:r>
              <a:rPr lang="en-US" altLang="zh-CN"/>
              <a:t> + </a:t>
            </a:r>
            <a:r>
              <a:rPr lang="zh-CN" altLang="en-US"/>
              <a:t>裕量）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   - </a:t>
            </a:r>
            <a:r>
              <a:rPr lang="zh-CN" altLang="en-US"/>
              <a:t>阈值</a:t>
            </a:r>
            <a:r>
              <a:rPr lang="en-US" altLang="zh-CN"/>
              <a:t>/</a:t>
            </a:r>
            <a:r>
              <a:rPr lang="zh-CN" altLang="en-US"/>
              <a:t>膜电位位宽（保证不溢出且利于稳定发放）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   - </a:t>
            </a:r>
            <a:r>
              <a:rPr lang="zh-CN" altLang="en-US"/>
              <a:t>是否需要</a:t>
            </a:r>
            <a:r>
              <a:rPr lang="en-US" altLang="zh-CN"/>
              <a:t> Program-and-Verify / Reference Column / </a:t>
            </a:r>
            <a:r>
              <a:rPr lang="zh-CN" altLang="en-US"/>
              <a:t>校准周期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   - DMA/Buffer </a:t>
            </a:r>
            <a:r>
              <a:rPr lang="zh-CN" altLang="en-US"/>
              <a:t>是否要扩展（例如写权重</a:t>
            </a:r>
            <a:r>
              <a:rPr lang="en-US" altLang="zh-CN"/>
              <a:t>/</a:t>
            </a:r>
            <a:r>
              <a:rPr lang="zh-CN" altLang="en-US"/>
              <a:t>搬运结果</a:t>
            </a:r>
            <a:r>
              <a:rPr lang="en-US" altLang="zh-CN"/>
              <a:t>/</a:t>
            </a:r>
            <a:r>
              <a:rPr lang="zh-CN" altLang="en-US"/>
              <a:t>减少</a:t>
            </a:r>
            <a:r>
              <a:rPr lang="en-US" altLang="zh-CN"/>
              <a:t> CPU </a:t>
            </a:r>
            <a:r>
              <a:rPr lang="zh-CN" altLang="en-US"/>
              <a:t>参与）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38145" y="234378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zh-CN" altLang="en-US" sz="8800"/>
              <a:t>谢谢大家！</a:t>
            </a:r>
            <a:endParaRPr lang="zh-CN" altLang="en-US" sz="8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3448</Words>
  <Application>WPS 演示</Application>
  <PresentationFormat>宽屏</PresentationFormat>
  <Paragraphs>192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陈庆安</dc:creator>
  <cp:lastModifiedBy>陈庆安</cp:lastModifiedBy>
  <cp:revision>6</cp:revision>
  <dcterms:created xsi:type="dcterms:W3CDTF">2023-08-09T12:44:00Z</dcterms:created>
  <dcterms:modified xsi:type="dcterms:W3CDTF">2026-02-04T19:20:29Z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D6C90A41ABC14EB994078BEB04ED68EC_12</vt:lpwstr>
  </property>
</Properties>
</file>